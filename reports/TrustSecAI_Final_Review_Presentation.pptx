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8" r:id="rId4"/>
    <p:sldId id="269" r:id="rId5"/>
    <p:sldId id="270" r:id="rId6"/>
    <p:sldId id="271" r:id="rId7"/>
    <p:sldId id="272" r:id="rId8"/>
    <p:sldId id="278" r:id="rId9"/>
    <p:sldId id="273" r:id="rId10"/>
    <p:sldId id="274" r:id="rId11"/>
    <p:sldId id="275" r:id="rId12"/>
    <p:sldId id="276" r:id="rId13"/>
    <p:sldId id="27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406C066-4099-46BF-A324-6D6371F1CB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787EF4F-E023-2373-3A52-65FDD2C2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0BAA98A5-9303-4947-619D-353BA13F0C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6A8BE555-446D-051C-B88E-765B6EFAE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9636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7099D57A-7E5A-B01B-5DE9-FE6FB678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6CF0B3D1-F992-3BC7-5466-53FF55967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8A31D5A9-C44C-FC3F-B2EB-55CAC10D30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1020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EED107BF-D6BC-1855-A4EE-8FB70F78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00A12801-F346-3C5C-0CB9-914B2B0E9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FB5971E3-FC51-DBC4-9BD5-0015E9208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5828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EC2A9D4-E63E-4FE5-B9C3-EDCB2B27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B7CC5609-3130-214D-7CE1-ADEAA6FFC9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E2FB5DB3-C000-77DC-4D35-3F57CB2440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106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3A5F67CF-8F27-88B2-FA9A-93EFA3560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C51560DC-096C-82A5-DAE5-1E5683EF7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028352B1-4B14-2BA6-32AE-D668FB0A4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7298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EB66CE6-BF04-2795-CCE8-978F1F92D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C4691657-DCBF-82F3-BA5A-82E9279F8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16858D24-2C47-2CF7-B4AA-E955466C3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5218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BE305678-33DE-A3EA-D2AF-BAEE2EEB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73607BD7-94EA-4CB0-F4EC-BF66AA93E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DD297960-E171-8744-7B5A-910B0BE95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381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7AD3E25D-9F37-077E-2D21-890A08FC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07E89F93-8580-2FC3-9042-1F0A728C76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33CCC5EB-D893-5AA2-F2D5-7FAD02A93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164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5360BB6B-7FA0-BA18-6278-423572B1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CF0E9E98-2C76-9BF0-ED0B-8F5F3AECA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4534A225-955D-8F38-F226-FCF08833E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5795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1A19179C-5070-F6A5-AA89-1F47B076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F24074A6-40AD-03CD-CCD8-0206A9143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B67D024A-8D1C-E353-40BA-3BA5D56C9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0050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4EEA7F0-DCBD-0A52-4620-CDA3A94F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>
            <a:extLst>
              <a:ext uri="{FF2B5EF4-FFF2-40B4-BE49-F238E27FC236}">
                <a16:creationId xmlns:a16="http://schemas.microsoft.com/office/drawing/2014/main" id="{7FC0AB26-3248-E4EB-AA21-7F7126EF8F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7F40E5B2-64A1-0712-4F57-9D0A767CB5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646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lIns="60000" tIns="60000" rIns="60000" bIns="60000"/>
          <a:lstStyle/>
          <a:p>
            <a:pPr algn="l"/>
            <a:r>
              <a:rPr lang="en-US" sz="1800" b="0">
                <a:solidFill>
                  <a:srgbClr val="1F2937"/>
                </a:solidFill>
                <a:latin typeface="Aptos"/>
              </a:rPr>
              <a:t/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594360"/>
            <a:ext cx="10972800" cy="1143000"/>
          </a:xfrm>
          <a:prstGeom prst="round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Aptos"/>
              </a:rPr>
              <a:t>TrustSecAI: Context-Aware Security Incident Analysis</a:t>
            </a:r>
          </a:p>
          <a:p>
            <a:pPr algn="ctr"/>
            <a:r>
              <a:rPr lang="en-US" sz="2700" b="1">
                <a:solidFill>
                  <a:srgbClr val="FFFFFF"/>
                </a:solidFill>
                <a:latin typeface="Aptos"/>
              </a:rPr>
              <a:t>using GraphRAG and Explainable 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" y="2011680"/>
            <a:ext cx="99669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2200" b="1">
                <a:solidFill>
                  <a:srgbClr val="1F2937"/>
                </a:solidFill>
                <a:latin typeface="Aptos"/>
              </a:rPr>
              <a:t>Summer Internship June-July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03120" y="2743200"/>
            <a:ext cx="8046720" cy="1508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0">
                <a:solidFill>
                  <a:srgbClr val="111827"/>
                </a:solidFill>
                <a:latin typeface="Aptos"/>
              </a:rPr>
              <a:t>Name: Rithvik H</a:t>
            </a:r>
          </a:p>
          <a:p>
            <a:pPr algn="ctr"/>
            <a:r>
              <a:rPr lang="en-US" sz="1800" b="0">
                <a:solidFill>
                  <a:srgbClr val="111827"/>
                </a:solidFill>
                <a:latin typeface="Aptos"/>
              </a:rPr>
              <a:t>SRN: &lt;fill SRN&gt;</a:t>
            </a:r>
          </a:p>
          <a:p>
            <a:pPr algn="ctr"/>
            <a:r>
              <a:rPr lang="en-US" sz="1800" b="0">
                <a:solidFill>
                  <a:srgbClr val="111827"/>
                </a:solidFill>
                <a:latin typeface="Aptos"/>
              </a:rPr>
              <a:t>Mentor: &lt;fill mentor name&gt;</a:t>
            </a:r>
          </a:p>
          <a:p>
            <a:pPr algn="ctr"/>
            <a:r>
              <a:rPr lang="en-US" sz="1800" b="0">
                <a:solidFill>
                  <a:srgbClr val="111827"/>
                </a:solidFill>
                <a:latin typeface="Aptos"/>
              </a:rPr>
              <a:t>Center: Center of Cognitive Computing and Computational Intelligence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0160" y="4800600"/>
            <a:ext cx="96926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0">
                <a:solidFill>
                  <a:srgbClr val="475569"/>
                </a:solidFill>
                <a:latin typeface="Aptos"/>
              </a:rPr>
              <a:t>Defensive cybersecurity research: from IDS alerts to explainable SOC assessments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234440"/>
            <a:ext cx="5303520" cy="33832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60000" tIns="60000" rIns="60000" bIns="60000"/>
          <a:lstStyle/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IDS alerts are often noisy, high-volume, and low-context.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SOC analysts need explainability, threat-intelligence mapping, and triage support.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TrustSecAI turns network-flow alerts into contextual incident assessments.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The classifier detects; SHAP explains; Neo4j retrieves; LoRA summarizes supplied evidence.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00800" y="1325880"/>
            <a:ext cx="4754880" cy="2971800"/>
          </a:xfrm>
          <a:prstGeom prst="roundRect">
            <a:avLst/>
          </a:prstGeom>
          <a:solidFill>
            <a:srgbClr val="ECFEFF"/>
          </a:solidFill>
          <a:ln w="9525">
            <a:solidFill>
              <a:srgbClr val="0891B2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>TrustSecAI Output</a:t>
            </a:r>
          </a:p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/>
            </a:r>
          </a:p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>Primary assessment</a:t>
            </a:r>
          </a:p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>Secondary LLM assessment</a:t>
            </a:r>
          </a:p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>ATT&amp;CK mapping</a:t>
            </a:r>
          </a:p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>Agreement category</a:t>
            </a:r>
          </a:p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>Defensive attack-chain pivots</a:t>
            </a:r>
          </a:p>
          <a:p>
            <a:pPr algn="ctr"/>
            <a:r>
              <a:rPr lang="en-US" sz="1800" b="0">
                <a:solidFill>
                  <a:srgbClr val="0F172A"/>
                </a:solidFill>
                <a:latin typeface="Aptos"/>
              </a:rPr>
              <a:t>Recommended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Literature Survey and Research Gap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1051560"/>
            <a:ext cx="3779520" cy="57150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</a:rPr>
              <a:t>Existing area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91000" y="1051560"/>
            <a:ext cx="3779520" cy="57150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</a:rPr>
              <a:t>Limitation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70520" y="1051560"/>
            <a:ext cx="3779520" cy="57150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</a:rPr>
              <a:t>TrustSecAI contribution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480" y="1623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ML-based IDS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91000" y="1623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Often stops at detection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70520" y="1623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XGBoost IDS + validation study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1480" y="2194560"/>
            <a:ext cx="377952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XAI for security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91000" y="2194560"/>
            <a:ext cx="377952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Explains model but lacks threat context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70520" y="2194560"/>
            <a:ext cx="377952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SHAP + graph-grounded interpretation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1480" y="2766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Threat-intelligence KGs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91000" y="2766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Usually separate from IDS pipeline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70520" y="2766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Neo4j ATT&amp;CK/CAPEC/CWE/CVE graph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480" y="3337560"/>
            <a:ext cx="377952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RAG/GraphRAG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91000" y="3337560"/>
            <a:ext cx="377952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Risk of weak grounding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70520" y="3337560"/>
            <a:ext cx="3779520" cy="5715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Deterministic retrieval + provenance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480" y="3909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LLM incident summaries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91000" y="3909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May hallucinate or overclaim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70520" y="3909060"/>
            <a:ext cx="377952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LoRA secondary assessment with constraints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4360" y="4709160"/>
            <a:ext cx="10972800" cy="7772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600" b="1">
                <a:solidFill>
                  <a:srgbClr val="111827"/>
                </a:solidFill>
                <a:latin typeface="Aptos"/>
              </a:rPr>
              <a:t>Research Gap: Few systems combine classifier evidence, SHAP, graph retrieval, LoRA secondary assessment, agreement analysis, and defensive attack-chain pivots in one reproducible SOC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051560"/>
            <a:ext cx="10789920" cy="6400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284C7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000" b="1">
                <a:solidFill>
                  <a:srgbClr val="1F2937"/>
                </a:solidFill>
                <a:latin typeface="Aptos"/>
              </a:rPr>
              <a:t>Given a network-flow IDS alert, generate an analyst-ready incident assessment.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920240"/>
            <a:ext cx="10241280" cy="33832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60000" tIns="60000" rIns="60000" bIns="60000"/>
          <a:lstStyle/>
          <a:p>
            <a:pPr algn="l"/>
            <a:r>
              <a:rPr lang="en-US" sz="1800" b="0">
                <a:solidFill>
                  <a:srgbClr val="111827"/>
                </a:solidFill>
                <a:latin typeface="Aptos"/>
              </a:rPr>
              <a:t>- Explain why the classifier predicted attack.</a:t>
            </a:r>
          </a:p>
          <a:p>
            <a:pPr algn="l"/>
            <a:r>
              <a:rPr lang="en-US" sz="1800" b="0">
                <a:solidFill>
                  <a:srgbClr val="111827"/>
                </a:solidFill>
                <a:latin typeface="Aptos"/>
              </a:rPr>
              <a:t>- Identify relevant ATT&amp;CK, CAPEC, CWE, CVE, and product context.</a:t>
            </a:r>
          </a:p>
          <a:p>
            <a:pPr algn="l"/>
            <a:r>
              <a:rPr lang="en-US" sz="1800" b="0">
                <a:solidFill>
                  <a:srgbClr val="111827"/>
                </a:solidFill>
                <a:latin typeface="Aptos"/>
              </a:rPr>
              <a:t>- Generate a grounded LoRA secondary assessment.</a:t>
            </a:r>
          </a:p>
          <a:p>
            <a:pPr algn="l"/>
            <a:r>
              <a:rPr lang="en-US" sz="1800" b="0">
                <a:solidFill>
                  <a:srgbClr val="111827"/>
                </a:solidFill>
                <a:latin typeface="Aptos"/>
              </a:rPr>
              <a:t>- Compare classifier and LLM assessment for agreement.</a:t>
            </a:r>
          </a:p>
          <a:p>
            <a:pPr algn="l"/>
            <a:r>
              <a:rPr lang="en-US" sz="1800" b="0">
                <a:solidFill>
                  <a:srgbClr val="111827"/>
                </a:solidFill>
                <a:latin typeface="Aptos"/>
              </a:rPr>
              <a:t>- Prioritize bounded defensive investigation pivots.</a:t>
            </a:r>
          </a:p>
          <a:p>
            <a:pPr algn="l"/>
            <a:r>
              <a:rPr lang="en-US" sz="1800" b="0">
                <a:solidFill>
                  <a:srgbClr val="111827"/>
                </a:solidFill>
                <a:latin typeface="Aptos"/>
              </a:rPr>
              <a:t>- Avoid attribution claims, exploit steps, or treating graph context as proof.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097280"/>
            <a:ext cx="5486400" cy="418011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400" b="1">
                <a:solidFill>
                  <a:srgbClr val="111827"/>
                </a:solidFill>
                <a:latin typeface="Aptos"/>
              </a:rPr>
              <a:t>Item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80760" y="1097280"/>
            <a:ext cx="5486400" cy="418011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400" b="1">
                <a:solidFill>
                  <a:srgbClr val="111827"/>
                </a:solidFill>
                <a:latin typeface="Aptos"/>
              </a:rPr>
              <a:t>TrustSecAI usage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360" y="1515291"/>
            <a:ext cx="5486400" cy="418011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Primary dataset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80760" y="1515291"/>
            <a:ext cx="5486400" cy="418011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CICIDS2017 network-flow records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4360" y="1933302"/>
            <a:ext cx="5486400" cy="418011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Cleaned rows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80760" y="1933302"/>
            <a:ext cx="5486400" cy="418011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2,520,798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360" y="2351313"/>
            <a:ext cx="5486400" cy="418011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Features used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0760" y="2351313"/>
            <a:ext cx="5486400" cy="418011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78 numeric flow 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4360" y="2769324"/>
            <a:ext cx="5486400" cy="418011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Binary task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80760" y="2769324"/>
            <a:ext cx="5486400" cy="418011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BENIGN vs ATTACK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4360" y="3187335"/>
            <a:ext cx="5486400" cy="418011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IDS subtype labels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0760" y="3187335"/>
            <a:ext cx="5486400" cy="418011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Used for retrieval/demo context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4360" y="3605346"/>
            <a:ext cx="5486400" cy="418011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Demo labels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80760" y="3605346"/>
            <a:ext cx="5486400" cy="418011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400" b="0">
                <a:solidFill>
                  <a:srgbClr val="111827"/>
                </a:solidFill>
                <a:latin typeface="Aptos"/>
              </a:rPr>
              <a:t>SQL Injection, PortScan, FTP-Patator, Bot, DDoS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5840" y="4343400"/>
            <a:ext cx="10241280" cy="73152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14B8A6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1">
                <a:solidFill>
                  <a:srgbClr val="1F2937"/>
                </a:solidFill>
                <a:latin typeface="Aptos"/>
              </a:rPr>
              <a:t>Threat-intelligence sources: MITRE ATT&amp;CK, CAPEC, CWE, NVD/CVE, CPE/product context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100" b="0">
                <a:solidFill>
                  <a:srgbClr val="4B5563"/>
                </a:solidFill>
                <a:latin typeface="Aptos"/>
              </a:rPr>
              <a:t>Classifier is the primary detector. LLM output is secondary assessment, not ground truth.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2920" y="1325880"/>
            <a:ext cx="2011680" cy="56692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CICIDS2017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14600" y="15270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-&gt;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43200" y="1325880"/>
            <a:ext cx="2011680" cy="56692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Preprocessing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54880" y="15270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-&gt;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83480" y="1325880"/>
            <a:ext cx="2011680" cy="566928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XGBoost IDS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95160" y="15270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-&gt;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23760" y="1325880"/>
            <a:ext cx="2011680" cy="566928"/>
          </a:xfrm>
          <a:prstGeom prst="roundRect">
            <a:avLst/>
          </a:prstGeom>
          <a:solidFill>
            <a:srgbClr val="FCE7F3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SHAP XAI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35440" y="15270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-&gt;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4040" y="1325880"/>
            <a:ext cx="2011680" cy="566928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Neo4j KG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2468880"/>
            <a:ext cx="2011680" cy="566928"/>
          </a:xfrm>
          <a:prstGeom prst="roundRect">
            <a:avLst/>
          </a:prstGeom>
          <a:solidFill>
            <a:srgbClr val="ECFEFF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GraphRAG Retrieval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4600" y="26700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-&gt;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43200" y="2468880"/>
            <a:ext cx="2011680" cy="566928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LoRA Llama 3.1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54880" y="26700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-&gt;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83480" y="2468880"/>
            <a:ext cx="2011680" cy="566928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Agreement 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5160" y="26700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-&gt;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23760" y="2468880"/>
            <a:ext cx="2011680" cy="56692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Attack-Chain 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35440" y="2670048"/>
            <a:ext cx="228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600" b="1">
                <a:solidFill>
                  <a:srgbClr val="0F172A"/>
                </a:solidFill>
                <a:latin typeface="Aptos"/>
              </a:rPr>
              <a:t>-&gt;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64040" y="2468880"/>
            <a:ext cx="2011680" cy="566928"/>
          </a:xfrm>
          <a:prstGeom prst="roundRect">
            <a:avLst/>
          </a:prstGeom>
          <a:solidFill>
            <a:srgbClr val="E0E7FF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300" b="1">
                <a:solidFill>
                  <a:srgbClr val="1F2937"/>
                </a:solidFill>
                <a:latin typeface="Aptos"/>
              </a:rPr>
              <a:t>Streamlit / Report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1520" y="4251960"/>
            <a:ext cx="1078992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1">
                <a:solidFill>
                  <a:srgbClr val="1F2937"/>
                </a:solidFill>
                <a:latin typeface="Aptos"/>
              </a:rPr>
              <a:t>Neo4j KG: ATT&amp;CK + CAPEC + CWE + NVD/CVE + CPE/Product + IDS label mappings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Data Preprocessing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051560"/>
            <a:ext cx="521208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60000" tIns="60000" rIns="60000" bIns="60000"/>
          <a:lstStyle/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Loaded and concatenated CICIDS2017 CSV files.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Normalized column names and labels.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Handled duplicate columns such as Fwd Header Length.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Converted feature columns to numeric.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Removed invalid, missing, non-finite, and duplicate rows.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09360" y="1051560"/>
            <a:ext cx="502920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60000" tIns="60000" rIns="60000" bIns="60000"/>
          <a:lstStyle/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Created binary_label: BENIGN=0, ATTACK=1.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Preserved original multiclass IDS labels.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Retained source_file for audit and day-aware validation.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Excluded label, binary_label, and source_file from model training.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Evaluated both random and day-aware splits.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Techniques (ML/DL)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143000"/>
            <a:ext cx="5212080" cy="150876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XGBoost Classifier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Binary IDS detection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78 CICIDS flow features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Class imbalance handled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09360" y="1143000"/>
            <a:ext cx="5212080" cy="150876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SHAP Explainability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Local feature attributions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Top features in reports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Grounds classifier reasoning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360" y="3200400"/>
            <a:ext cx="5212080" cy="150876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Neo4j GraphRAG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Deterministic retrieval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ATT&amp;CK/CAPEC/CWE/CVE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Provenance preserved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09360" y="3200400"/>
            <a:ext cx="5212080" cy="1508760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4748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LoRA Llama 3.1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Adapter fine-tuning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Secondary assessment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Offline reviewed demo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500" b="0">
                <a:solidFill>
                  <a:srgbClr val="475569"/>
                </a:solidFill>
                <a:latin typeface="Aptos"/>
              </a:rPr>
              <a:t>Agreement analysis and attack-chain agent are deterministic defensive modules.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914400"/>
            <a:ext cx="5577840" cy="46736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</a:rPr>
              <a:t>Module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80760" y="914400"/>
            <a:ext cx="5577840" cy="46736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</a:rPr>
              <a:t>Purpose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381760"/>
            <a:ext cx="5577840" cy="4673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src/models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80760" y="1381760"/>
            <a:ext cx="5577840" cy="4673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Random Forest/XGBoost training and day-aware validation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2920" y="1849120"/>
            <a:ext cx="5577840" cy="46736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src/explainability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80760" y="1849120"/>
            <a:ext cx="5577840" cy="46736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SHAP global and local explanations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2920" y="2316480"/>
            <a:ext cx="5577840" cy="4673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src/graph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80760" y="2316480"/>
            <a:ext cx="5577840" cy="4673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Neo4j schema, parsing, ingestion, validation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" y="2783840"/>
            <a:ext cx="5577840" cy="46736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src/retrieval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80760" y="2783840"/>
            <a:ext cx="5577840" cy="46736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Deterministic GraphRAG retrieval and context builder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2920" y="3251200"/>
            <a:ext cx="5577840" cy="4673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src/llm/training + 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0760" y="3251200"/>
            <a:ext cx="5577840" cy="4673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SFT formatting, LoRA setup, held-out evaluation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2920" y="3718560"/>
            <a:ext cx="5577840" cy="46736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src/llm/integration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80760" y="3718560"/>
            <a:ext cx="5577840" cy="46736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Offline LoRA client, prompt builder, response parser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2920" y="4185920"/>
            <a:ext cx="5577840" cy="4673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src/analysis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0760" y="4185920"/>
            <a:ext cx="5577840" cy="4673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Agreement analysis and graph-backed attack-chain agent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2920" y="4653280"/>
            <a:ext cx="5577840" cy="46736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src/pipeline + src/ui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80760" y="4653280"/>
            <a:ext cx="5577840" cy="46736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Offline demo runner and Streamlit dashboard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" y="5349240"/>
            <a:ext cx="107899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20000" tIns="20000" rIns="20000" bIns="20000"/>
          <a:lstStyle/>
          <a:p>
            <a:pPr algn="ctr"/>
            <a:r>
              <a:rPr lang="en-US" sz="1500" b="1">
                <a:solidFill>
                  <a:srgbClr val="0F766E"/>
                </a:solidFill>
                <a:latin typeface="Aptos"/>
              </a:rPr>
              <a:t>Attack-chain agent supports graph-backed Neo4j traversal with static fallback.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914400"/>
            <a:ext cx="1828800" cy="26670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Metric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40280" y="914400"/>
            <a:ext cx="1828800" cy="26670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Random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69080" y="914400"/>
            <a:ext cx="1828800" cy="26670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Day-aware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1480" y="11811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Accuracy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40280" y="11811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0.999170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9080" y="11811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0.771359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1480" y="1447800"/>
            <a:ext cx="1828800" cy="2667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Precision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40280" y="1447800"/>
            <a:ext cx="1828800" cy="2667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0.995601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69080" y="1447800"/>
            <a:ext cx="1828800" cy="2667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0.999101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1480" y="17145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Recall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40280" y="17145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0.999499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69080" y="17145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0.362623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480" y="1981200"/>
            <a:ext cx="1828800" cy="2667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F1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40280" y="1981200"/>
            <a:ext cx="1828800" cy="2667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0.997546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69080" y="1981200"/>
            <a:ext cx="1828800" cy="26670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0.532115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480" y="22479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ROC-AUC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40280" y="22479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0.999982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069080" y="2247900"/>
            <a:ext cx="18288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0.788955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72200" y="914400"/>
            <a:ext cx="5394960" cy="160020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500" b="0">
                <a:solidFill>
                  <a:srgbClr val="111827"/>
                </a:solidFill>
                <a:latin typeface="Aptos"/>
              </a:rPr>
              <a:t>Interpretation</a:t>
            </a:r>
          </a:p>
          <a:p>
            <a:pPr algn="ctr"/>
            <a:r>
              <a:rPr lang="en-US" sz="1500" b="0">
                <a:solidFill>
                  <a:srgbClr val="111827"/>
                </a:solidFill>
                <a:latin typeface="Aptos"/>
              </a:rPr>
              <a:t>Random split is very high, but day-aware split reveals distribution shift. Explainability and context are essential.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1480" y="2880360"/>
            <a:ext cx="1783080" cy="42672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</a:rPr>
              <a:t>Graph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94560" y="2880360"/>
            <a:ext cx="1783080" cy="42672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200" b="1">
                <a:solidFill>
                  <a:srgbClr val="111827"/>
                </a:solidFill>
                <a:latin typeface="Aptos"/>
              </a:rPr>
              <a:t>Count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1480" y="3307080"/>
            <a:ext cx="178308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200" b="0">
                <a:solidFill>
                  <a:srgbClr val="111827"/>
                </a:solidFill>
                <a:latin typeface="Aptos"/>
              </a:rPr>
              <a:t>Nodes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94560" y="3307080"/>
            <a:ext cx="1783080" cy="42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200" b="0">
                <a:solidFill>
                  <a:srgbClr val="111827"/>
                </a:solidFill>
                <a:latin typeface="Aptos"/>
              </a:rPr>
              <a:t>10,034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1480" y="3733800"/>
            <a:ext cx="1783080" cy="42672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200" b="0">
                <a:solidFill>
                  <a:srgbClr val="111827"/>
                </a:solidFill>
                <a:latin typeface="Aptos"/>
              </a:rPr>
              <a:t>Relationships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94560" y="3733800"/>
            <a:ext cx="1783080" cy="42672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200" b="0">
                <a:solidFill>
                  <a:srgbClr val="111827"/>
                </a:solidFill>
                <a:latin typeface="Aptos"/>
              </a:rPr>
              <a:t>39,748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97680" y="2880360"/>
            <a:ext cx="1783080" cy="256032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</a:rPr>
              <a:t>LoRA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80760" y="2880360"/>
            <a:ext cx="1783080" cy="256032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100" b="1">
                <a:solidFill>
                  <a:srgbClr val="111827"/>
                </a:solidFill>
                <a:latin typeface="Aptos"/>
              </a:rPr>
              <a:t>Value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97680" y="3136392"/>
            <a:ext cx="17830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Epochs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080760" y="3136392"/>
            <a:ext cx="17830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97680" y="3392424"/>
            <a:ext cx="178308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Train loss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80760" y="3392424"/>
            <a:ext cx="178308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0.173604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297680" y="3648456"/>
            <a:ext cx="17830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Eval loss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80760" y="3648456"/>
            <a:ext cx="17830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0.132792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297680" y="3904488"/>
            <a:ext cx="178308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Eval token acc.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80760" y="3904488"/>
            <a:ext cx="178308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100" b="0">
                <a:solidFill>
                  <a:srgbClr val="111827"/>
                </a:solidFill>
                <a:latin typeface="Aptos"/>
              </a:rPr>
              <a:t>0.982005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38160" y="2880360"/>
            <a:ext cx="1737360" cy="248194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Compact Eval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875520" y="2880360"/>
            <a:ext cx="1737360" cy="248194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Value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38160" y="3128554"/>
            <a:ext cx="1737360" cy="248194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Held-out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75520" y="3128554"/>
            <a:ext cx="1737360" cy="248194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76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138160" y="3376748"/>
            <a:ext cx="1737360" cy="248194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Non-empty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875520" y="3376748"/>
            <a:ext cx="1737360" cy="248194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1.0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38160" y="3624942"/>
            <a:ext cx="1737360" cy="248194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Error rate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875520" y="3624942"/>
            <a:ext cx="1737360" cy="248194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38160" y="3873136"/>
            <a:ext cx="1737360" cy="248194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Token cap hits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75520" y="3873136"/>
            <a:ext cx="1737360" cy="248194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38160" y="4121330"/>
            <a:ext cx="1737360" cy="248194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JSON parse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875520" y="4121330"/>
            <a:ext cx="1737360" cy="248194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0.8289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38160" y="4369524"/>
            <a:ext cx="1737360" cy="248194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Unsupported CWE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875520" y="4369524"/>
            <a:ext cx="1737360" cy="248194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Demo and Case Studies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914400"/>
            <a:ext cx="2834640" cy="33528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IDS label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46120" y="914400"/>
            <a:ext cx="2834640" cy="33528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Example ID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80760" y="914400"/>
            <a:ext cx="2834640" cy="33528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Confidence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0" y="914400"/>
            <a:ext cx="2834640" cy="335280"/>
          </a:xfrm>
          <a:prstGeom prst="rect">
            <a:avLst/>
          </a:prstGeom>
          <a:solidFill>
            <a:srgbClr val="D9EAF7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ctr"/>
            <a:r>
              <a:rPr lang="en-US" sz="1000" b="1">
                <a:solidFill>
                  <a:srgbClr val="111827"/>
                </a:solidFill>
                <a:latin typeface="Aptos"/>
              </a:rPr>
              <a:t>Mode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1480" y="124968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SQL Injection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46120" y="124968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trustsecai-gold-v1-00575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80760" y="124968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98.32%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15400" y="124968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graph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1480" y="1584960"/>
            <a:ext cx="2834640" cy="33528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PortScan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46120" y="1584960"/>
            <a:ext cx="2834640" cy="33528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trustsecai-gold-v1-00178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0760" y="1584960"/>
            <a:ext cx="2834640" cy="33528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99.86%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15400" y="1584960"/>
            <a:ext cx="2834640" cy="33528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graph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480" y="192024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FTP-Patator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46120" y="192024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trustsecai-gold-v1-00810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80760" y="192024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100.00%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15400" y="192024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graph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1480" y="2255520"/>
            <a:ext cx="2834640" cy="33528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Bot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46120" y="2255520"/>
            <a:ext cx="2834640" cy="33528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trustsecai-gold-v1-00381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80760" y="2255520"/>
            <a:ext cx="2834640" cy="33528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100.00%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15400" y="2255520"/>
            <a:ext cx="2834640" cy="335280"/>
          </a:xfrm>
          <a:prstGeom prst="rect">
            <a:avLst/>
          </a:prstGeom>
          <a:solidFill>
            <a:srgbClr val="F8FAFC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graph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1480" y="259080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DDoS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246120" y="259080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trustsecai-gold-v1-00128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80760" y="259080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100.00%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15400" y="2590800"/>
            <a:ext cx="2834640" cy="33528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</a:ln>
        </p:spPr>
        <p:txBody>
          <a:bodyPr wrap="square" lIns="35000" tIns="35000" rIns="35000" bIns="35000"/>
          <a:lstStyle/>
          <a:p>
            <a:pPr algn="l"/>
            <a:r>
              <a:rPr lang="en-US" sz="1000" b="0">
                <a:solidFill>
                  <a:srgbClr val="111827"/>
                </a:solidFill>
                <a:latin typeface="Aptos"/>
              </a:rPr>
              <a:t>graph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5800" y="3246120"/>
            <a:ext cx="5303520" cy="2194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60000" tIns="60000" rIns="60000" bIns="60000"/>
          <a:lstStyle/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SQLi case: ATT&amp;CK T1190, confidence 98.32%.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Agreement: agree_attack_high_confidence.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Graph-backed Neo4j attack-chain traversal.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Report includes SHAP, LoRA assessment, mitigations, caveats.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00800" y="3246120"/>
            <a:ext cx="5029200" cy="2148840"/>
          </a:xfrm>
          <a:prstGeom prst="roundRect">
            <a:avLst/>
          </a:prstGeom>
          <a:solidFill>
            <a:srgbClr val="ECFEFF"/>
          </a:solidFill>
          <a:ln w="9525">
            <a:solidFill>
              <a:srgbClr val="06B6D4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Streamlit Offline UI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/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Reads artifacts/demo/*.json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No GPU required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No LoRA inference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Reviewer-friendly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Conclusion and Future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005840"/>
            <a:ext cx="10789920" cy="914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Conclusion</a:t>
            </a:r>
          </a:p>
          <a:p>
            <a:pPr algn="ctr"/>
            <a:r>
              <a:rPr lang="en-US" sz="1800" b="0">
                <a:solidFill>
                  <a:srgbClr val="1F2937"/>
                </a:solidFill>
                <a:latin typeface="Aptos"/>
              </a:rPr>
              <a:t>TrustSecAI integrates detection, explainability, graph intelligence, LoRA-assisted secondary assessment, agreement analysis, and defensive attack-chain support.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2331720"/>
            <a:ext cx="10241280" cy="28346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60000" tIns="60000" rIns="60000" bIns="60000"/>
          <a:lstStyle/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Improve day-aware IDS generalization.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Add live LoRA inference endpoint when GPU runtime allows.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Use constrained JSON decoding for stricter structured outputs.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Enhance graph traversal/ranking with provenance scores.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Add temporal alert correlation and analyst-feedback calibration.</a:t>
            </a:r>
          </a:p>
          <a:p>
            <a:pPr algn="l"/>
            <a:r>
              <a:rPr lang="en-US" sz="1700" b="0">
                <a:solidFill>
                  <a:srgbClr val="111827"/>
                </a:solidFill>
                <a:latin typeface="Aptos"/>
              </a:rPr>
              <a:t>- Expand reviewed corpus and lightweight production 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0040" y="164592"/>
            <a:ext cx="11567160" cy="502920"/>
          </a:xfrm>
          <a:prstGeom prst="rect">
            <a:avLst/>
          </a:prstGeom>
          <a:solidFill>
            <a:srgbClr val="143D59"/>
          </a:solidFill>
          <a:ln w="9525">
            <a:solidFill>
              <a:srgbClr val="143D59"/>
            </a:solidFill>
          </a:ln>
        </p:spPr>
        <p:txBody>
          <a:bodyPr wrap="square" lIns="60000" tIns="60000" rIns="60000" bIns="60000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914400"/>
            <a:ext cx="10972800" cy="49377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txBody>
          <a:bodyPr wrap="square" lIns="60000" tIns="60000" rIns="60000" bIns="60000"/>
          <a:lstStyle/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CICIDS2017 dataset - Sharafaldin et al.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XGBoost - Chen and Guestrin, KDD 2016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SHAP - Lundberg and Lee, NeurIPS 2017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MITRE ATT&amp;CK, CAPEC, CWE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NIST NVD/CVE and CPE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Neo4j Graph Database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Llama 3.1 model family - Meta AI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LoRA and PEFT - Hu et al.; Hugging Face PEFT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Retrieval-Augmented Generation / GraphRAG literature</a:t>
            </a:r>
          </a:p>
          <a:p>
            <a:pPr algn="l"/>
            <a:r>
              <a:rPr lang="en-US" sz="1500" b="0">
                <a:solidFill>
                  <a:srgbClr val="111827"/>
                </a:solidFill>
                <a:latin typeface="Aptos"/>
              </a:rPr>
              <a:t>- TrustSecAI project reports and artifacts,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</Words>
  <Application>Microsoft Office PowerPoint</Application>
  <PresentationFormat>Widescreen</PresentationFormat>
  <Paragraphs>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Pooja A</dc:creator>
  <cp:lastModifiedBy>Sandip Kuldharan</cp:lastModifiedBy>
  <cp:revision>4</cp:revision>
  <dcterms:created xsi:type="dcterms:W3CDTF">2026-07-15T03:23:11Z</dcterms:created>
  <dcterms:modified xsi:type="dcterms:W3CDTF">2026-07-15T04:46:15Z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6EBD3FFD664B494EB0F4644438374E6E_12</vt:lpwstr>
  </property>
  <property fmtid="{D5CDD505-2E9C-101B-9397-08002B2CF9AE}" pid="3" name="KSOProductBuildVer">
    <vt:lpwstr>1033-12.1.0.26880</vt:lpwstr>
  </property>
</Properties>
</file>